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media/image15.jpg" ContentType="image/jpeg"/>
  <Override PartName="/ppt/media/image16.JPG" ContentType="image/jpeg"/>
  <Override PartName="/ppt/media/image17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4"/>
  </p:notesMasterIdLst>
  <p:sldIdLst>
    <p:sldId id="280" r:id="rId2"/>
    <p:sldId id="281" r:id="rId3"/>
    <p:sldId id="284" r:id="rId4"/>
    <p:sldId id="291" r:id="rId5"/>
    <p:sldId id="286" r:id="rId6"/>
    <p:sldId id="290" r:id="rId7"/>
    <p:sldId id="292" r:id="rId8"/>
    <p:sldId id="282" r:id="rId9"/>
    <p:sldId id="289" r:id="rId10"/>
    <p:sldId id="285" r:id="rId11"/>
    <p:sldId id="287" r:id="rId12"/>
    <p:sldId id="28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cu" initials="f" lastIdx="2" clrIdx="0">
    <p:extLst>
      <p:ext uri="{19B8F6BF-5375-455C-9EA6-DF929625EA0E}">
        <p15:presenceInfo xmlns:p15="http://schemas.microsoft.com/office/powerpoint/2012/main" userId="frac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A459B-96C1-4CD7-AE5A-4A6D314FB891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C1998A-27DA-4FBD-84F4-2F6F6FD4A11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354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738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521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480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49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3975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068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20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476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038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8301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7120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0686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4985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7938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3635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7622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B26B2-EDE4-4A29-9AB4-2DDD17E0BF63}" type="datetimeFigureOut">
              <a:rPr lang="it-IT" smtClean="0"/>
              <a:t>04/09/2025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0A2283A-8DE2-4762-882E-A652C2A5E8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4568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package" Target="../embeddings/Microsoft_Excel_Worksheet2.xls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package" Target="../embeddings/Microsoft_Excel_Worksheet2.xls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package" Target="../embeddings/Microsoft_Excel_Worksheet2.xls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570BB4-8740-42A8-8BC8-27B7E9BB6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2" y="1757473"/>
            <a:ext cx="10733015" cy="420073"/>
          </a:xfrm>
        </p:spPr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UNIVERSITÀ DEGLI STUDI DEL SANNIO</a:t>
            </a:r>
            <a:br>
              <a:rPr lang="it-IT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Dipartimento di Diritto, Economia, Management e Metodi Quantitativi</a:t>
            </a:r>
            <a:b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Corso di Laurea Magistrale in Scienze Statistiche e Attuariali (L</a:t>
            </a:r>
            <a:r>
              <a:rPr lang="it-IT" sz="1800" kern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it-IT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-83) </a:t>
            </a:r>
            <a:b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Tesi di Laurea in </a:t>
            </a:r>
            <a:br>
              <a:rPr lang="it-IT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20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 Mining e NLP: metodologie statistiche per la classificazione di documenti testuali</a:t>
            </a:r>
            <a:endParaRPr lang="it-IT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437315A-4629-4CE5-B9C2-085B32E34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227" y="129537"/>
            <a:ext cx="1135243" cy="126078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02BAA381-A56A-4DFB-A698-3B1E5F430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5027" y="3858808"/>
            <a:ext cx="3161943" cy="164329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DA7C3D0-9055-BC92-1993-280699AB99CF}"/>
              </a:ext>
            </a:extLst>
          </p:cNvPr>
          <p:cNvSpPr txBox="1"/>
          <p:nvPr/>
        </p:nvSpPr>
        <p:spPr>
          <a:xfrm>
            <a:off x="2016807" y="5383863"/>
            <a:ext cx="8938901" cy="175432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it-IT" b="1" dirty="0"/>
              <a:t>Relatore </a:t>
            </a:r>
          </a:p>
          <a:p>
            <a:r>
              <a:rPr lang="it-IT" i="1" dirty="0"/>
              <a:t>Antonio </a:t>
            </a:r>
            <a:r>
              <a:rPr lang="it-IT" i="1" dirty="0" err="1"/>
              <a:t>Lucadamo</a:t>
            </a:r>
            <a:r>
              <a:rPr lang="it-IT" i="1" dirty="0"/>
              <a:t>   </a:t>
            </a:r>
          </a:p>
          <a:p>
            <a:br>
              <a:rPr lang="it-IT" dirty="0"/>
            </a:br>
            <a:r>
              <a:rPr lang="it-IT" b="1" dirty="0"/>
              <a:t>Correlatore </a:t>
            </a:r>
          </a:p>
          <a:p>
            <a:r>
              <a:rPr lang="it-IT" i="1" dirty="0"/>
              <a:t>Pietro Roberto Amenta</a:t>
            </a:r>
          </a:p>
          <a:p>
            <a:endParaRPr lang="it-IT" dirty="0"/>
          </a:p>
          <a:p>
            <a:pPr algn="r"/>
            <a:r>
              <a:rPr lang="it-IT" dirty="0"/>
              <a:t>                              </a:t>
            </a:r>
            <a:r>
              <a:rPr lang="it-IT" b="1" dirty="0"/>
              <a:t>Candidato</a:t>
            </a:r>
            <a:r>
              <a:rPr lang="it-IT" dirty="0"/>
              <a:t>  </a:t>
            </a:r>
          </a:p>
          <a:p>
            <a:pPr algn="r"/>
            <a:r>
              <a:rPr lang="it-IT" i="1" dirty="0"/>
              <a:t>                              Cuozzo Francesco</a:t>
            </a:r>
          </a:p>
          <a:p>
            <a:r>
              <a:rPr lang="it-IT" dirty="0"/>
              <a:t>                              </a:t>
            </a:r>
          </a:p>
          <a:p>
            <a:pPr algn="r"/>
            <a:r>
              <a:rPr lang="it-IT" b="1" dirty="0"/>
              <a:t>                               Matricola</a:t>
            </a:r>
            <a:r>
              <a:rPr lang="it-IT" dirty="0"/>
              <a:t> </a:t>
            </a:r>
          </a:p>
          <a:p>
            <a:pPr algn="r"/>
            <a:r>
              <a:rPr lang="it-IT" i="1" dirty="0"/>
              <a:t>                               709000613</a:t>
            </a:r>
          </a:p>
        </p:txBody>
      </p:sp>
    </p:spTree>
    <p:extLst>
      <p:ext uri="{BB962C8B-B14F-4D97-AF65-F5344CB8AC3E}">
        <p14:creationId xmlns:p14="http://schemas.microsoft.com/office/powerpoint/2010/main" val="1859426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BA8626-71D8-42C2-9F66-6E9CC2855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73776"/>
            <a:ext cx="8911687" cy="1280890"/>
          </a:xfrm>
        </p:spPr>
        <p:txBody>
          <a:bodyPr/>
          <a:lstStyle/>
          <a:p>
            <a:r>
              <a:rPr lang="it-IT" dirty="0"/>
              <a:t>Obiettivi - Dati - Metodi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85A706-40E6-465C-9216-711691F51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520328"/>
            <a:ext cx="9864456" cy="4390894"/>
          </a:xfrm>
        </p:spPr>
        <p:txBody>
          <a:bodyPr>
            <a:normAutofit fontScale="92500" lnSpcReduction="10000"/>
          </a:bodyPr>
          <a:lstStyle/>
          <a:p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Obiettivo del lavoro è quello di analizzare le differenze in termini di </a:t>
            </a:r>
            <a:r>
              <a:rPr lang="it-IT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carriera universitaria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b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it-IT" b="1" dirty="0">
                <a:solidFill>
                  <a:srgbClr val="000000"/>
                </a:solidFill>
                <a:latin typeface="Times New Roman" panose="02020603050405020304" pitchFamily="18" charset="0"/>
              </a:rPr>
              <a:t>job placement, efficacia della formazione e soddisfazione per il lavoro 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dei laureati magistrali in discipline STEM nel tentativo di cogliere eventuali associazioni e differenze tra le diverse classi delle lauree</a:t>
            </a:r>
            <a:endParaRPr lang="it-IT" dirty="0"/>
          </a:p>
          <a:p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Cosa sono le </a:t>
            </a:r>
            <a:r>
              <a:rPr lang="it-IT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Lauree STEM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? </a:t>
            </a:r>
            <a:b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L’acronimo sta ad indicare le classi di laurea dei gruppi disciplinari </a:t>
            </a:r>
            <a:r>
              <a:rPr lang="it-IT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Science, Technology, Engineering, </a:t>
            </a:r>
            <a:r>
              <a:rPr lang="it-IT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Mathemathics</a:t>
            </a:r>
            <a:br>
              <a:rPr lang="it-IT" i="1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Le lauree selezionate sono ripartite in 8 classi del gruppo Scientifico, 6 classi del gruppo Tecnologico,     </a:t>
            </a:r>
            <a:b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20 classi di laurea del gruppo Ingegneria e 2 classi del gruppo Matematico.</a:t>
            </a:r>
          </a:p>
          <a:p>
            <a:r>
              <a:rPr lang="it-IT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 dati provengono dall’Indagine </a:t>
            </a:r>
            <a:r>
              <a:rPr lang="it-IT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Alama</a:t>
            </a:r>
            <a:r>
              <a:rPr lang="it-IT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Laurea</a:t>
            </a: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 «Condizione occupazionale dei laureati» del 2022.</a:t>
            </a:r>
            <a:b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Si tratta di informazioni relative ai laureati magistrali STEM contattati nel 2021 a 3 anni dal conseguimento del titolo. La rilevazione ha interessato 119 mila laureati di secondo livello, di questi sono circa trentamila i laureati in discipline STEM  </a:t>
            </a:r>
            <a:endParaRPr lang="it-IT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</a:rPr>
              <a:t>Sono stati costruite misure di sintesi per analizzare la variabilità di alcuni indicatori tra le differenti classi di laurea e, attraverso una metodologia di analisi multivariata (ACP), si è tentata una rappresentazione delle associazioni e delle differenze tra le diverse classi delle lauree.</a:t>
            </a:r>
            <a:endParaRPr lang="it-IT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54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F25A928B-DA03-4587-B9EE-04D45E0B9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488" y="179425"/>
            <a:ext cx="6383295" cy="555731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caratteristiche del collettivo</a:t>
            </a:r>
            <a:br>
              <a:rPr lang="it-IT" dirty="0"/>
            </a:b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E7BAAA6C-5060-4AED-AC78-D1ADAFD90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0164" y="1024078"/>
            <a:ext cx="9336947" cy="4059030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AB9F17E-ADDE-40C7-A91E-AB3DEFFA1E17}"/>
              </a:ext>
            </a:extLst>
          </p:cNvPr>
          <p:cNvSpPr txBox="1"/>
          <p:nvPr/>
        </p:nvSpPr>
        <p:spPr>
          <a:xfrm>
            <a:off x="3965166" y="1802083"/>
            <a:ext cx="7829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Lucida Fax" panose="02060602050505020204" pitchFamily="18" charset="0"/>
                <a:cs typeface="Arial" panose="020B0604020202020204" pitchFamily="34" charset="0"/>
              </a:rPr>
              <a:t>Il divario tra uomini e donne è molto forte sia in termini di laureati che di retribuzione</a:t>
            </a:r>
            <a:endParaRPr lang="it-IT" sz="1400" dirty="0">
              <a:latin typeface="Lucida Fax" panose="02060602050505020204" pitchFamily="18" charset="0"/>
            </a:endParaRP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0B8F34CC-C5AE-4F0A-86FA-CE654B4403DD}"/>
              </a:ext>
            </a:extLst>
          </p:cNvPr>
          <p:cNvSpPr/>
          <p:nvPr/>
        </p:nvSpPr>
        <p:spPr>
          <a:xfrm>
            <a:off x="5750651" y="2836931"/>
            <a:ext cx="2252446" cy="1475009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D0E0B956-F9C6-4A6D-8291-7616CE3CC5AD}"/>
              </a:ext>
            </a:extLst>
          </p:cNvPr>
          <p:cNvCxnSpPr/>
          <p:nvPr/>
        </p:nvCxnSpPr>
        <p:spPr>
          <a:xfrm flipH="1">
            <a:off x="6719582" y="2130804"/>
            <a:ext cx="218113" cy="637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B74C3056-B340-4D74-8FDC-B1F9D2F5ABA3}"/>
              </a:ext>
            </a:extLst>
          </p:cNvPr>
          <p:cNvCxnSpPr>
            <a:cxnSpLocks/>
          </p:cNvCxnSpPr>
          <p:nvPr/>
        </p:nvCxnSpPr>
        <p:spPr>
          <a:xfrm>
            <a:off x="9278224" y="2197916"/>
            <a:ext cx="515559" cy="855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2B65A656-FB68-43C0-A7D0-6BA3DC1DD536}"/>
              </a:ext>
            </a:extLst>
          </p:cNvPr>
          <p:cNvSpPr/>
          <p:nvPr/>
        </p:nvSpPr>
        <p:spPr>
          <a:xfrm>
            <a:off x="8959442" y="3112316"/>
            <a:ext cx="2155971" cy="119962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14" name="Oggetto 13">
            <a:extLst>
              <a:ext uri="{FF2B5EF4-FFF2-40B4-BE49-F238E27FC236}">
                <a16:creationId xmlns:a16="http://schemas.microsoft.com/office/drawing/2014/main" id="{C2675EC4-4CFF-43B2-8A27-1A9D5B90A3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446475"/>
              </p:ext>
            </p:extLst>
          </p:nvPr>
        </p:nvGraphicFramePr>
        <p:xfrm>
          <a:off x="3425591" y="5159229"/>
          <a:ext cx="7024207" cy="1658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953500" imgH="2114550" progId="Excel.Sheet.12">
                  <p:embed/>
                </p:oleObj>
              </mc:Choice>
              <mc:Fallback>
                <p:oleObj name="Worksheet" r:id="rId3" imgW="8953500" imgH="211455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5591" y="5159229"/>
                        <a:ext cx="7024207" cy="1658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62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4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8A4FA8-6FB1-41ED-93CE-7BC0B2DD7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2787" y="259781"/>
            <a:ext cx="3866597" cy="772066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90000"/>
          </a:bodyPr>
          <a:lstStyle/>
          <a:p>
            <a:pPr algn="ctr"/>
            <a:r>
              <a:rPr lang="it-IT" dirty="0"/>
              <a:t>Singoli Gruppi STEM </a:t>
            </a:r>
          </a:p>
        </p:txBody>
      </p:sp>
      <p:graphicFrame>
        <p:nvGraphicFramePr>
          <p:cNvPr id="3" name="Oggetto 2">
            <a:extLst>
              <a:ext uri="{FF2B5EF4-FFF2-40B4-BE49-F238E27FC236}">
                <a16:creationId xmlns:a16="http://schemas.microsoft.com/office/drawing/2014/main" id="{065477B7-A092-4EE1-B832-38D87E116D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644419"/>
              </p:ext>
            </p:extLst>
          </p:nvPr>
        </p:nvGraphicFramePr>
        <p:xfrm>
          <a:off x="3154261" y="1107348"/>
          <a:ext cx="7759816" cy="5590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734550" imgH="8410575" progId="Excel.Sheet.12">
                  <p:embed/>
                </p:oleObj>
              </mc:Choice>
              <mc:Fallback>
                <p:oleObj name="Worksheet" r:id="rId2" imgW="9734550" imgH="84105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54261" y="1107348"/>
                        <a:ext cx="7759816" cy="55903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ggetto 5">
            <a:extLst>
              <a:ext uri="{FF2B5EF4-FFF2-40B4-BE49-F238E27FC236}">
                <a16:creationId xmlns:a16="http://schemas.microsoft.com/office/drawing/2014/main" id="{BD2D7460-6690-4803-B11F-D0FD9EBD56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675888"/>
              </p:ext>
            </p:extLst>
          </p:nvPr>
        </p:nvGraphicFramePr>
        <p:xfrm>
          <a:off x="352338" y="1279604"/>
          <a:ext cx="2676087" cy="1346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714875" imgH="2209800" progId="Excel.Sheet.12">
                  <p:embed/>
                </p:oleObj>
              </mc:Choice>
              <mc:Fallback>
                <p:oleObj name="Worksheet" r:id="rId4" imgW="4714875" imgH="2209800" progId="Excel.Sheet.12">
                  <p:embed/>
                  <p:pic>
                    <p:nvPicPr>
                      <p:cNvPr id="7" name="Oggetto 6">
                        <a:extLst>
                          <a:ext uri="{FF2B5EF4-FFF2-40B4-BE49-F238E27FC236}">
                            <a16:creationId xmlns:a16="http://schemas.microsoft.com/office/drawing/2014/main" id="{6D120919-571C-4B65-9CD9-E90CF7E540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2338" y="1279604"/>
                        <a:ext cx="2676087" cy="1346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2205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2B0B3E-9982-49FF-B193-B26E6CF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587" y="190710"/>
            <a:ext cx="7558482" cy="53074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it-IT" sz="3200" dirty="0" err="1"/>
              <a:t>Boxplot</a:t>
            </a:r>
            <a:r>
              <a:rPr lang="it-IT" sz="3200" dirty="0"/>
              <a:t> Indicatori sul Job Placement  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63C923C8-AEFE-44A0-A8DB-FB769A7930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075" y="872455"/>
            <a:ext cx="9722841" cy="4199228"/>
          </a:xfrm>
        </p:spPr>
      </p:pic>
      <p:graphicFrame>
        <p:nvGraphicFramePr>
          <p:cNvPr id="3" name="Oggetto 2">
            <a:extLst>
              <a:ext uri="{FF2B5EF4-FFF2-40B4-BE49-F238E27FC236}">
                <a16:creationId xmlns:a16="http://schemas.microsoft.com/office/drawing/2014/main" id="{440659F3-38DD-440F-A57C-BC40013A99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90228"/>
              </p:ext>
            </p:extLst>
          </p:nvPr>
        </p:nvGraphicFramePr>
        <p:xfrm>
          <a:off x="2954499" y="5222685"/>
          <a:ext cx="7204570" cy="1539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258300" imgH="2295525" progId="Excel.Sheet.12">
                  <p:embed/>
                </p:oleObj>
              </mc:Choice>
              <mc:Fallback>
                <p:oleObj name="Worksheet" r:id="rId3" imgW="9258300" imgH="2295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54499" y="5222685"/>
                        <a:ext cx="7204570" cy="1539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160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8FF76F-F27B-43D6-AF1F-35435F79D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229" y="166054"/>
            <a:ext cx="7638434" cy="640445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it-IT" sz="2400" dirty="0"/>
              <a:t>Variabili sul Job Placement per singoli gruppi STEM </a:t>
            </a:r>
          </a:p>
        </p:txBody>
      </p:sp>
      <p:graphicFrame>
        <p:nvGraphicFramePr>
          <p:cNvPr id="4" name="Oggetto 3">
            <a:extLst>
              <a:ext uri="{FF2B5EF4-FFF2-40B4-BE49-F238E27FC236}">
                <a16:creationId xmlns:a16="http://schemas.microsoft.com/office/drawing/2014/main" id="{17AB7D07-8989-4FE6-A20F-70D7CB6729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601153"/>
              </p:ext>
            </p:extLst>
          </p:nvPr>
        </p:nvGraphicFramePr>
        <p:xfrm>
          <a:off x="3422708" y="1018144"/>
          <a:ext cx="6786694" cy="5619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372600" imgH="8391525" progId="Excel.Sheet.12">
                  <p:embed/>
                </p:oleObj>
              </mc:Choice>
              <mc:Fallback>
                <p:oleObj name="Worksheet" r:id="rId2" imgW="9372600" imgH="839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22708" y="1018144"/>
                        <a:ext cx="6786694" cy="56194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ggetto 6">
            <a:extLst>
              <a:ext uri="{FF2B5EF4-FFF2-40B4-BE49-F238E27FC236}">
                <a16:creationId xmlns:a16="http://schemas.microsoft.com/office/drawing/2014/main" id="{6D120919-571C-4B65-9CD9-E90CF7E54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614560"/>
              </p:ext>
            </p:extLst>
          </p:nvPr>
        </p:nvGraphicFramePr>
        <p:xfrm>
          <a:off x="430678" y="1468073"/>
          <a:ext cx="2882973" cy="1392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714875" imgH="2209800" progId="Excel.Sheet.12">
                  <p:embed/>
                </p:oleObj>
              </mc:Choice>
              <mc:Fallback>
                <p:oleObj name="Worksheet" r:id="rId4" imgW="4714875" imgH="2209800" progId="Excel.Sheet.12">
                  <p:embed/>
                  <p:pic>
                    <p:nvPicPr>
                      <p:cNvPr id="6" name="Oggetto 5">
                        <a:extLst>
                          <a:ext uri="{FF2B5EF4-FFF2-40B4-BE49-F238E27FC236}">
                            <a16:creationId xmlns:a16="http://schemas.microsoft.com/office/drawing/2014/main" id="{7937C054-9D29-41EB-A958-73E40D8D34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678" y="1468073"/>
                        <a:ext cx="2882973" cy="1392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4745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540CB6-E7A2-409D-9BDA-D7688E26B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261" y="65973"/>
            <a:ext cx="6568580" cy="830754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it-IT" sz="2800" dirty="0"/>
              <a:t> Indicatori sul grado di soddisfazione </a:t>
            </a:r>
            <a:br>
              <a:rPr lang="it-IT" sz="2800" dirty="0"/>
            </a:br>
            <a:r>
              <a:rPr lang="it-IT" sz="2800" dirty="0"/>
              <a:t>del Titolo di studio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CCCE3E5-0714-4178-A8D4-C6DE9883B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3634" y="959644"/>
            <a:ext cx="9815118" cy="4233141"/>
          </a:xfrm>
        </p:spPr>
      </p:pic>
      <p:graphicFrame>
        <p:nvGraphicFramePr>
          <p:cNvPr id="3" name="Oggetto 2">
            <a:extLst>
              <a:ext uri="{FF2B5EF4-FFF2-40B4-BE49-F238E27FC236}">
                <a16:creationId xmlns:a16="http://schemas.microsoft.com/office/drawing/2014/main" id="{FAD76F65-2E28-49F2-80AB-71EBC38719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903305"/>
              </p:ext>
            </p:extLst>
          </p:nvPr>
        </p:nvGraphicFramePr>
        <p:xfrm>
          <a:off x="3925083" y="5329168"/>
          <a:ext cx="5572220" cy="1462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743950" imgH="2295525" progId="Excel.Sheet.12">
                  <p:embed/>
                </p:oleObj>
              </mc:Choice>
              <mc:Fallback>
                <p:oleObj name="Worksheet" r:id="rId3" imgW="8743950" imgH="2295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5083" y="5329168"/>
                        <a:ext cx="5572220" cy="14628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1928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2416FB-2789-4573-AEBC-CCB82EAEA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046" y="182830"/>
            <a:ext cx="9228704" cy="723181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it-IT" dirty="0"/>
              <a:t> </a:t>
            </a:r>
            <a:r>
              <a:rPr lang="it-IT" sz="2200" dirty="0"/>
              <a:t>Variabili sul grado di soddisfazione del percorso di studi e del lavoro per singole STEM</a:t>
            </a:r>
          </a:p>
        </p:txBody>
      </p:sp>
      <p:graphicFrame>
        <p:nvGraphicFramePr>
          <p:cNvPr id="4" name="Oggetto 3">
            <a:extLst>
              <a:ext uri="{FF2B5EF4-FFF2-40B4-BE49-F238E27FC236}">
                <a16:creationId xmlns:a16="http://schemas.microsoft.com/office/drawing/2014/main" id="{0FE8180B-9341-49A1-ABF6-270BD2F1EB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387027"/>
              </p:ext>
            </p:extLst>
          </p:nvPr>
        </p:nvGraphicFramePr>
        <p:xfrm>
          <a:off x="3800213" y="981512"/>
          <a:ext cx="6291743" cy="5693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743950" imgH="8963025" progId="Excel.Sheet.12">
                  <p:embed/>
                </p:oleObj>
              </mc:Choice>
              <mc:Fallback>
                <p:oleObj name="Worksheet" r:id="rId2" imgW="8743950" imgH="89630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00213" y="981512"/>
                        <a:ext cx="6291743" cy="5693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ggetto 5">
            <a:extLst>
              <a:ext uri="{FF2B5EF4-FFF2-40B4-BE49-F238E27FC236}">
                <a16:creationId xmlns:a16="http://schemas.microsoft.com/office/drawing/2014/main" id="{7937C054-9D29-41EB-A958-73E40D8D34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812273"/>
              </p:ext>
            </p:extLst>
          </p:nvPr>
        </p:nvGraphicFramePr>
        <p:xfrm>
          <a:off x="470388" y="1485472"/>
          <a:ext cx="3235315" cy="151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714875" imgH="2209800" progId="Excel.Sheet.12">
                  <p:embed/>
                </p:oleObj>
              </mc:Choice>
              <mc:Fallback>
                <p:oleObj name="Worksheet" r:id="rId4" imgW="4714875" imgH="2209800" progId="Excel.Sheet.12">
                  <p:embed/>
                  <p:pic>
                    <p:nvPicPr>
                      <p:cNvPr id="14" name="Oggetto 13">
                        <a:extLst>
                          <a:ext uri="{FF2B5EF4-FFF2-40B4-BE49-F238E27FC236}">
                            <a16:creationId xmlns:a16="http://schemas.microsoft.com/office/drawing/2014/main" id="{B4ED258B-78A7-48F9-B971-B477215656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0388" y="1485472"/>
                        <a:ext cx="3235315" cy="1516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7217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A1FBCF57-3CE1-4D26-80B6-B7FC4D980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680" y="621700"/>
            <a:ext cx="8911687" cy="1280890"/>
          </a:xfrm>
        </p:spPr>
        <p:txBody>
          <a:bodyPr/>
          <a:lstStyle/>
          <a:p>
            <a:r>
              <a:rPr lang="it-IT" dirty="0"/>
              <a:t>Un tentativo di sintesi dei risultati: ACP </a:t>
            </a:r>
          </a:p>
        </p:txBody>
      </p:sp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8DBEAA5D-8912-4184-B8E4-5FE5CA4636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073" y="2253624"/>
            <a:ext cx="5939404" cy="4068436"/>
          </a:xfrm>
        </p:spPr>
      </p:pic>
      <p:pic>
        <p:nvPicPr>
          <p:cNvPr id="14" name="Segnaposto contenuto 13">
            <a:extLst>
              <a:ext uri="{FF2B5EF4-FFF2-40B4-BE49-F238E27FC236}">
                <a16:creationId xmlns:a16="http://schemas.microsoft.com/office/drawing/2014/main" id="{33EC2877-FF43-4FA3-81C1-3E4D9989A1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257" y="1929692"/>
            <a:ext cx="4344819" cy="4392368"/>
          </a:xfr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5FFD724-2718-42A7-AAF3-5A598AF04631}"/>
              </a:ext>
            </a:extLst>
          </p:cNvPr>
          <p:cNvSpPr txBox="1"/>
          <p:nvPr/>
        </p:nvSpPr>
        <p:spPr>
          <a:xfrm>
            <a:off x="961748" y="1385610"/>
            <a:ext cx="629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i="1" dirty="0"/>
              <a:t>Dopo aver selezionato le variabili attive che concorrono alla formazione degli assi di massima varianza si procede al calcolo della matrice di correlazione 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DD17840-521B-40F8-97EB-13E6C8662548}"/>
              </a:ext>
            </a:extLst>
          </p:cNvPr>
          <p:cNvSpPr txBox="1"/>
          <p:nvPr/>
        </p:nvSpPr>
        <p:spPr>
          <a:xfrm>
            <a:off x="7491370" y="1385609"/>
            <a:ext cx="4344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i="1" dirty="0"/>
              <a:t>Lo </a:t>
            </a:r>
            <a:r>
              <a:rPr lang="it-IT" sz="1200" i="1" dirty="0" err="1"/>
              <a:t>scree</a:t>
            </a:r>
            <a:r>
              <a:rPr lang="it-IT" sz="1200" i="1" dirty="0"/>
              <a:t> plot ci mostra che le prime due componenti spiegano circa il 70% della varianza totale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2116239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4B27E2B7-57E7-4EC8-B48A-D3F4F6C041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517" y="2133599"/>
            <a:ext cx="5469621" cy="4476925"/>
          </a:xfrm>
        </p:spPr>
      </p:pic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BC7DB718-4E90-4F39-8FCE-C8F56A7671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5" r="8039"/>
          <a:stretch/>
        </p:blipFill>
        <p:spPr>
          <a:xfrm>
            <a:off x="6753138" y="2021747"/>
            <a:ext cx="5134062" cy="4588778"/>
          </a:xfr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7088E35-38B9-4900-A280-36DD22B1C8A3}"/>
              </a:ext>
            </a:extLst>
          </p:cNvPr>
          <p:cNvSpPr txBox="1"/>
          <p:nvPr/>
        </p:nvSpPr>
        <p:spPr>
          <a:xfrm>
            <a:off x="1669408" y="936438"/>
            <a:ext cx="9739619" cy="9848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it-IT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Variabili Attive </a:t>
            </a:r>
            <a:r>
              <a:rPr lang="it-IT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Età alla Laurea – Voto di Laurea – Indice di ritardo – </a:t>
            </a:r>
            <a:r>
              <a:rPr lang="it-IT" sz="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Tasso di occupazione </a:t>
            </a:r>
            <a:r>
              <a:rPr lang="it-IT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it-IT" sz="9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Utilizzo elevato delle competenze acquisite </a:t>
            </a:r>
            <a:r>
              <a:rPr lang="it-IT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numero di ore di lavoro settimanali – gender gap retribuzione – retribuzione totale – </a:t>
            </a:r>
            <a:r>
              <a:rPr lang="it-IT" sz="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 indeterminato </a:t>
            </a:r>
            <a:r>
              <a:rPr lang="it-IT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soddisfazione lavoro svolto – </a:t>
            </a:r>
            <a:r>
              <a:rPr lang="it-IT" sz="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laurea molto efficace per il lavoro svolto </a:t>
            </a:r>
            <a:r>
              <a:rPr lang="it-IT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it-IT" sz="9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 per il reperimento primo lavoro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it-IT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sz="1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Variabili Supplementari </a:t>
            </a:r>
            <a:r>
              <a:rPr lang="it-IT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Numero di laureati – numero di intervistati – tasso di risposta sui laureati contattabili - durata degli studi – </a:t>
            </a:r>
            <a:br>
              <a:rPr lang="it-IT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uomini - % donne – diffusione smart working – retribuzione mensile netta uomini – retribuzione mensile netta donne – laurea abbastanza efficace per il lavoro svolto 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40313AF9-773D-4BF0-8748-79C623A93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052" y="178255"/>
            <a:ext cx="4923610" cy="646331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it-IT" dirty="0"/>
              <a:t>Cerchio delle Correlazioni</a:t>
            </a:r>
          </a:p>
        </p:txBody>
      </p:sp>
    </p:spTree>
    <p:extLst>
      <p:ext uri="{BB962C8B-B14F-4D97-AF65-F5344CB8AC3E}">
        <p14:creationId xmlns:p14="http://schemas.microsoft.com/office/powerpoint/2010/main" val="345600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979E54A6-278D-4C57-BDA8-778A7C81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754" y="247475"/>
            <a:ext cx="8070209" cy="684573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it-IT" sz="2400" b="1" dirty="0"/>
              <a:t>Rappresentazione simultanea degli individui e delle variabili</a:t>
            </a:r>
            <a:br>
              <a:rPr lang="it-IT" sz="2400" b="1" dirty="0"/>
            </a:br>
            <a:r>
              <a:rPr lang="it-IT" sz="1600" i="1" dirty="0"/>
              <a:t>Le classi di laurea vengono disposte all’interno di 4 gruppi rappresentati dalle ellissi </a:t>
            </a:r>
            <a:endParaRPr lang="it-IT" sz="2000" i="1" dirty="0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D6D699A7-1FFA-428F-8F97-CA404EA84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3574" y="1157680"/>
            <a:ext cx="10435905" cy="5452845"/>
          </a:xfrm>
        </p:spPr>
      </p:pic>
    </p:spTree>
    <p:extLst>
      <p:ext uri="{BB962C8B-B14F-4D97-AF65-F5344CB8AC3E}">
        <p14:creationId xmlns:p14="http://schemas.microsoft.com/office/powerpoint/2010/main" val="270700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8C2526-85FD-4954-8D1B-D1987D7C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1"/>
            <a:ext cx="8911687" cy="567126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it-IT" sz="3200" dirty="0"/>
              <a:t>Le lauree STEM non sono tutte uguali tra loro infatti…  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6632B4B-4B1E-48A2-AFBF-5B7DAEAB0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100289"/>
          </a:xfrm>
        </p:spPr>
        <p:txBody>
          <a:bodyPr numCol="1" spcCol="540000">
            <a:normAutofit fontScale="55000" lnSpcReduction="20000"/>
          </a:bodyPr>
          <a:lstStyle/>
          <a:p>
            <a:pPr marL="0" indent="0" algn="ctr">
              <a:buNone/>
            </a:pPr>
            <a:r>
              <a:rPr lang="it-IT" sz="3300" b="1" i="0" u="none" strike="noStrike" baseline="0" dirty="0">
                <a:latin typeface="Times New Roman" panose="02020603050405020304" pitchFamily="18" charset="0"/>
              </a:rPr>
              <a:t>La numerosità di alcuni collettivi influisce sui risultati ottenuti dal momento che </a:t>
            </a:r>
            <a:br>
              <a:rPr lang="it-IT" sz="3300" b="1" i="0" u="none" strike="noStrike" baseline="0" dirty="0">
                <a:latin typeface="Times New Roman" panose="02020603050405020304" pitchFamily="18" charset="0"/>
              </a:rPr>
            </a:br>
            <a:endParaRPr lang="it-IT" sz="2000" b="1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Il gruppo di Ingegneria è composto da 20 classi di laurea che sono più della metà di tutte le STEM e possiamo collocarlo al primo posto sia per quanto riguarda il tasso di occupazione e il</a:t>
            </a:r>
            <a:r>
              <a:rPr lang="it-IT" sz="2500" b="0" i="0" u="none" strike="noStrike" dirty="0">
                <a:latin typeface="Times New Roman" panose="02020603050405020304" pitchFamily="18" charset="0"/>
              </a:rPr>
              <a:t> tempo per reperire il primo lavoro </a:t>
            </a:r>
            <a:br>
              <a:rPr lang="it-IT" sz="2500" b="0" i="0" u="none" strike="noStrike" dirty="0">
                <a:latin typeface="Times New Roman" panose="02020603050405020304" pitchFamily="18" charset="0"/>
              </a:rPr>
            </a:br>
            <a:r>
              <a:rPr lang="it-IT" sz="2500" b="0" i="0" u="none" strike="noStrike" dirty="0">
                <a:latin typeface="Times New Roman" panose="02020603050405020304" pitchFamily="18" charset="0"/>
              </a:rPr>
              <a:t>(&lt; 2 mesi)</a:t>
            </a:r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 </a:t>
            </a:r>
            <a:br>
              <a:rPr lang="it-IT" sz="2500" b="0" i="0" u="none" strike="noStrike" baseline="0" dirty="0">
                <a:latin typeface="Times New Roman" panose="02020603050405020304" pitchFamily="18" charset="0"/>
              </a:rPr>
            </a:br>
            <a:endParaRPr lang="it-IT" sz="20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Il gruppo Matematico composto dalla LM-40</a:t>
            </a:r>
            <a:r>
              <a:rPr lang="it-IT" sz="2500" b="0" i="0" u="none" strike="noStrike" dirty="0">
                <a:latin typeface="Times New Roman" panose="02020603050405020304" pitchFamily="18" charset="0"/>
              </a:rPr>
              <a:t> Matematica e dalla LM-17 Fisica </a:t>
            </a:r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non presenta forte disparità di genere in termini retributivi e contrattuale. </a:t>
            </a:r>
            <a:br>
              <a:rPr lang="it-IT" sz="2500" b="0" i="0" u="none" strike="noStrike" baseline="0" dirty="0">
                <a:latin typeface="Times New Roman" panose="02020603050405020304" pitchFamily="18" charset="0"/>
              </a:rPr>
            </a:br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Il grado di soddisfazione è il più alto in</a:t>
            </a:r>
            <a:r>
              <a:rPr lang="it-IT" sz="2500" b="0" i="0" u="none" strike="noStrike" dirty="0">
                <a:latin typeface="Times New Roman" panose="02020603050405020304" pitchFamily="18" charset="0"/>
              </a:rPr>
              <a:t> assoluto</a:t>
            </a:r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 e </a:t>
            </a:r>
            <a:r>
              <a:rPr lang="it-IT" sz="2500" dirty="0">
                <a:latin typeface="Times New Roman" panose="02020603050405020304" pitchFamily="18" charset="0"/>
              </a:rPr>
              <a:t>gli occupati </a:t>
            </a:r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alla ricerca di lavoro sono pochi.</a:t>
            </a:r>
          </a:p>
          <a:p>
            <a:pPr algn="l"/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Il gruppo Tecnologico si divide a metà infatti abbiamo</a:t>
            </a:r>
            <a:r>
              <a:rPr lang="it-IT" sz="2500" b="0" i="0" u="none" strike="noStrike" dirty="0">
                <a:latin typeface="Times New Roman" panose="02020603050405020304" pitchFamily="18" charset="0"/>
              </a:rPr>
              <a:t> </a:t>
            </a:r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tre classi di laurea che sono:</a:t>
            </a:r>
            <a:br>
              <a:rPr lang="it-IT" sz="2500" b="0" i="0" u="none" strike="noStrike" baseline="0" dirty="0">
                <a:latin typeface="Times New Roman" panose="02020603050405020304" pitchFamily="18" charset="0"/>
              </a:rPr>
            </a:br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Informatica LM-18</a:t>
            </a:r>
            <a:r>
              <a:rPr lang="it-IT" sz="2500" b="0" i="0" u="none" strike="noStrike" dirty="0">
                <a:latin typeface="Times New Roman" panose="02020603050405020304" pitchFamily="18" charset="0"/>
              </a:rPr>
              <a:t> ,</a:t>
            </a:r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 Scienze Statistiche LM-82 , Scienze Statistiche Attuariali e finanziarie LM-83 </a:t>
            </a:r>
            <a:br>
              <a:rPr lang="it-IT" sz="2500" b="0" i="0" u="none" strike="noStrike" baseline="0" dirty="0">
                <a:latin typeface="Times New Roman" panose="02020603050405020304" pitchFamily="18" charset="0"/>
              </a:rPr>
            </a:br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dove gli occupati hanno una retribuzione superiore alla media del gruppo di ingegneria (1760€ contro i 1679€ ) </a:t>
            </a:r>
            <a:br>
              <a:rPr lang="it-IT" sz="2500" b="0" i="0" u="none" strike="noStrike" baseline="0" dirty="0">
                <a:latin typeface="Times New Roman" panose="02020603050405020304" pitchFamily="18" charset="0"/>
              </a:rPr>
            </a:br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e </a:t>
            </a:r>
            <a:r>
              <a:rPr lang="it-IT" sz="2500" dirty="0">
                <a:latin typeface="Times New Roman" panose="02020603050405020304" pitchFamily="18" charset="0"/>
              </a:rPr>
              <a:t>un tasso di occupazione molto elevato che va dal 94% al 97%. </a:t>
            </a:r>
            <a:br>
              <a:rPr lang="it-IT" sz="2500" dirty="0">
                <a:latin typeface="Times New Roman" panose="02020603050405020304" pitchFamily="18" charset="0"/>
              </a:rPr>
            </a:br>
            <a:r>
              <a:rPr lang="it-IT" sz="2500" dirty="0">
                <a:latin typeface="Times New Roman" panose="02020603050405020304" pitchFamily="18" charset="0"/>
              </a:rPr>
              <a:t>Le altre tre classi di laurea: Scienze e tecnologie della chimica industriale LM-71, Scienze e tecnologie geologiche LM-74 e scienze e tecnologie ambiente e territorio LM-75 sono distanti da questi risultati</a:t>
            </a:r>
            <a:r>
              <a:rPr lang="it-IT" dirty="0">
                <a:latin typeface="Times New Roman" panose="02020603050405020304" pitchFamily="18" charset="0"/>
              </a:rPr>
              <a:t>.</a:t>
            </a:r>
          </a:p>
          <a:p>
            <a:pPr algn="l"/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L’ultimo gruppo è quello Scientifico con un livello di soddisfazione del lavoro svolto più basso in assoluto tra tutti i gruppi delle STEM. I tempi di inserimento nel mondo del lavoro sono molto lunghi (6 mesi)  e le retribuzioni in media sono tra le più basse sia per gli uomini che per le donne (1430€/mese)</a:t>
            </a:r>
            <a:br>
              <a:rPr lang="it-IT" sz="2500" b="0" i="0" u="none" strike="noStrike" baseline="0" dirty="0">
                <a:latin typeface="Times New Roman" panose="02020603050405020304" pitchFamily="18" charset="0"/>
              </a:rPr>
            </a:br>
            <a:r>
              <a:rPr lang="it-IT" sz="2500" b="0" i="0" u="none" strike="noStrike" baseline="0" dirty="0">
                <a:latin typeface="Times New Roman" panose="02020603050405020304" pitchFamily="18" charset="0"/>
              </a:rPr>
              <a:t>Gli occupati lavorano meno ore a settimana e il contratto di lavoro a tempo indeterminato è assai poco diffuso. </a:t>
            </a:r>
            <a:endParaRPr lang="it-IT" sz="2500" dirty="0"/>
          </a:p>
        </p:txBody>
      </p:sp>
    </p:spTree>
    <p:extLst>
      <p:ext uri="{BB962C8B-B14F-4D97-AF65-F5344CB8AC3E}">
        <p14:creationId xmlns:p14="http://schemas.microsoft.com/office/powerpoint/2010/main" val="136144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build="p"/>
    </p:bldLst>
  </p:timing>
</p:sld>
</file>

<file path=ppt/theme/theme1.xml><?xml version="1.0" encoding="utf-8"?>
<a:theme xmlns:a="http://schemas.openxmlformats.org/drawingml/2006/main" name="Filo">
  <a:themeElements>
    <a:clrScheme name="Fil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TM04033937[[fn=Scia di vapore]]</Template>
  <TotalTime>815</TotalTime>
  <Words>838</Words>
  <Application>Microsoft Office PowerPoint</Application>
  <PresentationFormat>Widescreen</PresentationFormat>
  <Paragraphs>38</Paragraphs>
  <Slides>12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20" baseType="lpstr">
      <vt:lpstr>Arial</vt:lpstr>
      <vt:lpstr>Calibri</vt:lpstr>
      <vt:lpstr>Lucida Fax</vt:lpstr>
      <vt:lpstr>Times New Roman</vt:lpstr>
      <vt:lpstr>Wingdings</vt:lpstr>
      <vt:lpstr>Wingdings 3</vt:lpstr>
      <vt:lpstr>Filo</vt:lpstr>
      <vt:lpstr>Worksheet</vt:lpstr>
      <vt:lpstr>UNIVERSITÀ DEGLI STUDI DEL SANNIO Dipartimento di Diritto, Economia, Management e Metodi Quantitativi   Corso di Laurea Magistrale in Scienze Statistiche e Attuariali (LM-83)    Tesi di Laurea in  Text Mining e NLP: metodologie statistiche per la classificazione di documenti testuali</vt:lpstr>
      <vt:lpstr>Obiettivi - Dati - Metodi</vt:lpstr>
      <vt:lpstr>Le caratteristiche del collettivo </vt:lpstr>
      <vt:lpstr>Singoli Gruppi STEM </vt:lpstr>
      <vt:lpstr>Boxplot Indicatori sul Job Placement  </vt:lpstr>
      <vt:lpstr>Variabili sul Job Placement per singoli gruppi STEM </vt:lpstr>
      <vt:lpstr> Indicatori sul grado di soddisfazione  del Titolo di studio</vt:lpstr>
      <vt:lpstr> Variabili sul grado di soddisfazione del percorso di studi e del lavoro per singole STEM</vt:lpstr>
      <vt:lpstr>Un tentativo di sintesi dei risultati: ACP </vt:lpstr>
      <vt:lpstr>Cerchio delle Correlazioni</vt:lpstr>
      <vt:lpstr>Rappresentazione simultanea degli individui e delle variabili Le classi di laurea vengono disposte all’interno di 4 gruppi rappresentati dalle ellissi </vt:lpstr>
      <vt:lpstr>Le lauree STEM non sono tutte uguali tra loro infatti…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Università degli studi del Sannio  Dipartimento DEMM Laurea in Scienze Statistiche ed Attuariali</dc:title>
  <dc:creator>fracu</dc:creator>
  <cp:lastModifiedBy>CUOZZO francesco</cp:lastModifiedBy>
  <cp:revision>127</cp:revision>
  <dcterms:created xsi:type="dcterms:W3CDTF">2023-06-03T11:51:12Z</dcterms:created>
  <dcterms:modified xsi:type="dcterms:W3CDTF">2025-09-04T15:29:08Z</dcterms:modified>
</cp:coreProperties>
</file>